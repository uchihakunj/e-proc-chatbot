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74f4bfcee64fff" /><Relationship Type="http://schemas.openxmlformats.org/officeDocument/2006/relationships/extended-properties" Target="/docProps/app.xml" Id="Rd33a3e0731224a72" /><Relationship Type="http://schemas.openxmlformats.org/officeDocument/2006/relationships/officeDocument" Target="/ppt/presentation.xml" Id="Rdb84d3493b3e48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81c3193a6243ef"/>
  </p:sldMasterIdLst>
  <p:notesMasterIdLst>
    <p:notesMasterId xmlns:r="http://schemas.openxmlformats.org/officeDocument/2006/relationships" r:id="Rbafeb867c0dc4257"/>
  </p:notesMasterIdLst>
  <p:sldIdLst>
    <p:sldId xmlns:r="http://schemas.openxmlformats.org/officeDocument/2006/relationships" id="256" r:id="R415ba50e416a44b7"/>
    <p:sldId xmlns:r="http://schemas.openxmlformats.org/officeDocument/2006/relationships" id="257" r:id="Rac9d497fd1dd4bd7"/>
    <p:sldId xmlns:r="http://schemas.openxmlformats.org/officeDocument/2006/relationships" id="258" r:id="Rcba4a93790404afa"/>
    <p:sldId xmlns:r="http://schemas.openxmlformats.org/officeDocument/2006/relationships" id="259" r:id="Rf9581248f35b4e8f"/>
    <p:sldId xmlns:r="http://schemas.openxmlformats.org/officeDocument/2006/relationships" id="260" r:id="R18583c5cc0a34b69"/>
    <p:sldId xmlns:r="http://schemas.openxmlformats.org/officeDocument/2006/relationships" id="261" r:id="Rceec3829e8b341a3"/>
    <p:sldId xmlns:r="http://schemas.openxmlformats.org/officeDocument/2006/relationships" id="262" r:id="R7d13437d4ab24e93"/>
    <p:sldId xmlns:r="http://schemas.openxmlformats.org/officeDocument/2006/relationships" id="263" r:id="R12fa2e0702334aff"/>
    <p:sldId xmlns:r="http://schemas.openxmlformats.org/officeDocument/2006/relationships" id="264" r:id="R8c3d682cef804d76"/>
    <p:sldId xmlns:r="http://schemas.openxmlformats.org/officeDocument/2006/relationships" id="265" r:id="R75440da7cb364716"/>
    <p:sldId xmlns:r="http://schemas.openxmlformats.org/officeDocument/2006/relationships" id="266" r:id="Rd77175d083d341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83d67767164a83" /><Relationship Type="http://schemas.openxmlformats.org/officeDocument/2006/relationships/slideMaster" Target="/ppt/slideMasters/slideMaster1.xml" Id="R9181c3193a6243ef" /><Relationship Type="http://schemas.openxmlformats.org/officeDocument/2006/relationships/notesMaster" Target="/ppt/notesMasters/notesMaster1.xml" Id="Rbafeb867c0dc4257" /><Relationship Type="http://schemas.openxmlformats.org/officeDocument/2006/relationships/presProps" Target="/ppt/presProps.xml" Id="R42f627c192f54e06" /><Relationship Type="http://schemas.openxmlformats.org/officeDocument/2006/relationships/tableStyles" Target="/ppt/tableStyles.xml" Id="Reac4741dcadf4877" /><Relationship Type="http://schemas.openxmlformats.org/officeDocument/2006/relationships/slide" Target="/ppt/slides/slide1.xml" Id="R415ba50e416a44b7" /><Relationship Type="http://schemas.openxmlformats.org/officeDocument/2006/relationships/slide" Target="/ppt/slides/slide2.xml" Id="Rac9d497fd1dd4bd7" /><Relationship Type="http://schemas.openxmlformats.org/officeDocument/2006/relationships/slide" Target="/ppt/slides/slide3.xml" Id="Rcba4a93790404afa" /><Relationship Type="http://schemas.openxmlformats.org/officeDocument/2006/relationships/slide" Target="/ppt/slides/slide4.xml" Id="Rf9581248f35b4e8f" /><Relationship Type="http://schemas.openxmlformats.org/officeDocument/2006/relationships/slide" Target="/ppt/slides/slide5.xml" Id="R18583c5cc0a34b69" /><Relationship Type="http://schemas.openxmlformats.org/officeDocument/2006/relationships/slide" Target="/ppt/slides/slide6.xml" Id="Rceec3829e8b341a3" /><Relationship Type="http://schemas.openxmlformats.org/officeDocument/2006/relationships/slide" Target="/ppt/slides/slide7.xml" Id="R7d13437d4ab24e93" /><Relationship Type="http://schemas.openxmlformats.org/officeDocument/2006/relationships/slide" Target="/ppt/slides/slide8.xml" Id="R12fa2e0702334aff" /><Relationship Type="http://schemas.openxmlformats.org/officeDocument/2006/relationships/slide" Target="/ppt/slides/slide9.xml" Id="R8c3d682cef804d76" /><Relationship Type="http://schemas.openxmlformats.org/officeDocument/2006/relationships/slide" Target="/ppt/slides/slide10.xml" Id="R75440da7cb364716" /><Relationship Type="http://schemas.openxmlformats.org/officeDocument/2006/relationships/slide" Target="/ppt/slides/slide11.xml" Id="Rd77175d083d341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81932a171441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5b5e0e26524165" /><Relationship Type="http://schemas.openxmlformats.org/officeDocument/2006/relationships/notesMaster" Target="/ppt/notesMasters/notesMaster1.xml" Id="R008742e94ae94e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b6c1162e4f4081" /><Relationship Type="http://schemas.openxmlformats.org/officeDocument/2006/relationships/notesMaster" Target="/ppt/notesMasters/notesMaster1.xml" Id="Re19ab69543c146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34da1eae6f4dc0" /><Relationship Type="http://schemas.openxmlformats.org/officeDocument/2006/relationships/notesMaster" Target="/ppt/notesMasters/notesMaster1.xml" Id="R792cf2d1cb644f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ce02b39af54185" /><Relationship Type="http://schemas.openxmlformats.org/officeDocument/2006/relationships/notesMaster" Target="/ppt/notesMasters/notesMaster1.xml" Id="R854f9859b5b24e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2ea3cd85d24741" /><Relationship Type="http://schemas.openxmlformats.org/officeDocument/2006/relationships/notesMaster" Target="/ppt/notesMasters/notesMaster1.xml" Id="R96d42822df0c47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560e1f08324fd5" /><Relationship Type="http://schemas.openxmlformats.org/officeDocument/2006/relationships/notesMaster" Target="/ppt/notesMasters/notesMaster1.xml" Id="R00a9f9dacbeb47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60e1e1bfee422f" /><Relationship Type="http://schemas.openxmlformats.org/officeDocument/2006/relationships/notesMaster" Target="/ppt/notesMasters/notesMaster1.xml" Id="R8d4b24c0d0b348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eb40bc65d245aa" /><Relationship Type="http://schemas.openxmlformats.org/officeDocument/2006/relationships/notesMaster" Target="/ppt/notesMasters/notesMaster1.xml" Id="Rdbc06da212024a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4f73a9a8444872" /><Relationship Type="http://schemas.openxmlformats.org/officeDocument/2006/relationships/notesMaster" Target="/ppt/notesMasters/notesMaster1.xml" Id="R520e921a9ac248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0d3cc44e02f4e9c" /><Relationship Type="http://schemas.openxmlformats.org/officeDocument/2006/relationships/notesMaster" Target="/ppt/notesMasters/notesMaster1.xml" Id="R7dabe5b5959349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ce407e1bb742d3" /><Relationship Type="http://schemas.openxmlformats.org/officeDocument/2006/relationships/notesMaster" Target="/ppt/notesMasters/notesMaster1.xml" Id="R38cdd36da43f4c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db6966c7864f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62c42537e043c8" /><Relationship Type="http://schemas.openxmlformats.org/officeDocument/2006/relationships/slideLayout" Target="/ppt/slideLayouts/slideLayout1.xml" Id="Rb5a887f0a3a94d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a887f0a3a94d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d192074224e53" /><Relationship Type="http://schemas.openxmlformats.org/officeDocument/2006/relationships/notesSlide" Target="/ppt/notesSlides/notesSlide1.xml" Id="R2e0b75ef62874a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c1983727149b8" /><Relationship Type="http://schemas.openxmlformats.org/officeDocument/2006/relationships/notesSlide" Target="/ppt/notesSlides/notesSlide2.xml" Id="Rac89e1f241ba4d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dfea63c3d4e82" /><Relationship Type="http://schemas.openxmlformats.org/officeDocument/2006/relationships/notesSlide" Target="/ppt/notesSlides/notesSlide3.xml" Id="R0eb5a3ae731141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74ad4d7314ad7" /><Relationship Type="http://schemas.openxmlformats.org/officeDocument/2006/relationships/notesSlide" Target="/ppt/notesSlides/notesSlide4.xml" Id="Ree9ed48f6be749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6b5e68e3047d6" /><Relationship Type="http://schemas.openxmlformats.org/officeDocument/2006/relationships/notesSlide" Target="/ppt/notesSlides/notesSlide5.xml" Id="R4168868cf41840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f154aad6c4055" /><Relationship Type="http://schemas.openxmlformats.org/officeDocument/2006/relationships/notesSlide" Target="/ppt/notesSlides/notesSlide6.xml" Id="R9c08698e98e943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3eaa81d764bd6" /><Relationship Type="http://schemas.openxmlformats.org/officeDocument/2006/relationships/chart" Target="/ppt/slides/charts/chart1.xml" Id="Rc426364302654c5d" /><Relationship Type="http://schemas.openxmlformats.org/officeDocument/2006/relationships/notesSlide" Target="/ppt/notesSlides/notesSlide7.xml" Id="Ra9f6c39892b048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ba9d43ff14033" /><Relationship Type="http://schemas.openxmlformats.org/officeDocument/2006/relationships/notesSlide" Target="/ppt/notesSlides/notesSlide8.xml" Id="Ra25ed3b61df041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18dded78d408e" /><Relationship Type="http://schemas.openxmlformats.org/officeDocument/2006/relationships/image" Target="/ppt/media/image.png" Id="R2996a2d9b7d74573" /><Relationship Type="http://schemas.openxmlformats.org/officeDocument/2006/relationships/image" Target="/ppt/media/image2.png" Id="R307fa3dc20374375" /><Relationship Type="http://schemas.openxmlformats.org/officeDocument/2006/relationships/notesSlide" Target="/ppt/notesSlides/notesSlide9.xml" Id="Re025994f1fee49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43577f9854ecc" /><Relationship Type="http://schemas.openxmlformats.org/officeDocument/2006/relationships/notesSlide" Target="/ppt/notesSlides/notesSlide10.xml" Id="Ra0748c3b653842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b68b1935841ae" /><Relationship Type="http://schemas.openxmlformats.org/officeDocument/2006/relationships/notesSlide" Target="/ppt/notesSlides/notesSlide11.xml" Id="Rcdde25cef8034b3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Current metric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4"/>
              <c:pt idx="0">
                <c:v>Retrieval</c:v>
              </c:pt>
              <c:pt idx="1">
                <c:v>Context</c:v>
              </c:pt>
              <c:pt idx="2">
                <c:v>Language</c:v>
              </c:pt>
              <c:pt idx="3">
                <c:v>Streaming</c:v>
              </c:pt>
            </c:strLit>
          </c:cat>
          <c:val>
            <c:numLit>
              <c:formatCode>General</c:formatCode>
              <c:ptCount val="4"/>
              <c:pt idx="0">
                <c:v>80</c:v>
              </c:pt>
              <c:pt idx="1">
                <c:v>75</c:v>
              </c:pt>
              <c:pt idx="2">
                <c:v>97</c:v>
              </c:pt>
              <c:pt idx="3">
                <c:v>99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EC27F-440E-480F-B93D-ED8E9BE5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MONTHLY PROGRESS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733AA-C5EB-4B32-83FB-531C975F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CHiPS e-Procurement AI Chatbot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5D5B3-5703-4FC7-81BA-9C626C42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628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Department / Organization assigned: CHiPS, Government of Chhattisgarh</a:t>
            </a:r>
          </a:p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Reporting period: July 2026</a:t>
            </a:r>
          </a:p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Presentation duration: 15 minutes + 5 minutes discussion</a:t>
            </a:r>
          </a:p>
        </p:txBody>
      </p:sp>
      <p:sp>
        <p:nvSpPr>
          <p:cNvPr id="4" name="cover-panel">
            <a:extLst xmlns:a="http://schemas.openxmlformats.org/drawingml/2006/main">
              <a:ext uri="{FF2B5EF4-FFF2-40B4-BE49-F238E27FC236}">
                <a16:creationId xmlns:a16="http://schemas.microsoft.com/office/drawing/2014/main" id="{F1673827-E59D-4BB8-A8E6-90A1243E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28700"/>
            <a:ext cx="2952750" cy="4476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411EF-4D2B-4ADB-AA9D-DB3C9C21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2381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D293D"/>
                </a:solidFill>
              </a:defRPr>
            </a:pPr>
            <a:r>
              <a:rPr sz="1800">
                <a:solidFill>
                  <a:srgbClr val="1D293D"/>
                </a:solidFill>
              </a:rPr>
              <a:t>Focus this month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1D293D"/>
                </a:solidFill>
              </a:defRPr>
            </a:pPr>
            <a:r>
              <a:rPr sz="1800">
                <a:solidFill>
                  <a:srgbClr val="1D293D"/>
                </a:solidFill>
              </a:rPr>
              <a:t>• Improve answer quality</a:t>
            </a:r>
          </a:p>
          <a:p xmlns:a="http://schemas.openxmlformats.org/drawingml/2006/main">
            <a:pPr>
              <a:defRPr sz="1800">
                <a:solidFill>
                  <a:srgbClr val="1D293D"/>
                </a:solidFill>
              </a:defRPr>
            </a:pPr>
            <a:r>
              <a:rPr sz="1800">
                <a:solidFill>
                  <a:srgbClr val="1D293D"/>
                </a:solidFill>
              </a:rPr>
              <a:t>• Strengthen routing and validation</a:t>
            </a:r>
          </a:p>
          <a:p xmlns:a="http://schemas.openxmlformats.org/drawingml/2006/main">
            <a:pPr>
              <a:defRPr sz="1800">
                <a:solidFill>
                  <a:srgbClr val="1D293D"/>
                </a:solidFill>
              </a:defRPr>
            </a:pPr>
            <a:r>
              <a:rPr sz="1800">
                <a:solidFill>
                  <a:srgbClr val="1D293D"/>
                </a:solidFill>
              </a:rPr>
              <a:t>• Refine UI and voice support</a:t>
            </a:r>
          </a:p>
          <a:p xmlns:a="http://schemas.openxmlformats.org/drawingml/2006/main">
            <a:pPr>
              <a:defRPr sz="1800">
                <a:solidFill>
                  <a:srgbClr val="1D293D"/>
                </a:solidFill>
              </a:defRPr>
            </a:pPr>
            <a:r>
              <a:rPr sz="1800">
                <a:solidFill>
                  <a:srgbClr val="1D293D"/>
                </a:solidFill>
              </a:rPr>
              <a:t>• Prepare demo-ready documentation</a:t>
            </a:r>
          </a:p>
        </p:txBody>
      </p:sp>
      <p:sp>
        <p:nvSpPr>
          <p:cNvPr id="6" name="footer-line-1">
            <a:extLst xmlns:a="http://schemas.openxmlformats.org/drawingml/2006/main">
              <a:ext uri="{FF2B5EF4-FFF2-40B4-BE49-F238E27FC236}">
                <a16:creationId xmlns:a16="http://schemas.microsoft.com/office/drawing/2014/main" id="{F5560EE4-FE7F-441E-86F2-FF6E1520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A3A8A-082D-4B12-836A-94E7BE31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CHiPS e-Procurement AI Chatbot | Monthly Progress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F32FE-D29D-4387-85CA-65B613A3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077549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10553-E3EF-43A4-ACBE-CB6E2947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MONTHLY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2391B-2AE2-4D5A-80EE-E29176B0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The chatbot addresses a real procurement guidance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51CF6-B68A-4E4C-B102-B8E47192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953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Problem statement-bar">
            <a:extLst xmlns:a="http://schemas.openxmlformats.org/drawingml/2006/main">
              <a:ext uri="{FF2B5EF4-FFF2-40B4-BE49-F238E27FC236}">
                <a16:creationId xmlns:a16="http://schemas.microsoft.com/office/drawing/2014/main" id="{9FB726FD-1896-42B3-BF08-49889501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85820-7055-4300-AF1F-DF65E10D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Problem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49B3E-0468-4266-A407-61269B38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46101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Procurement manuals and rules are lengthy and difficult to search quickly.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Users need role-specific help for tenders, bids, vendor registration, EMD, and rules.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Queries arrive in English, Hindi, and Hinglish, making manual support slower.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FBAE1-3199-48E9-8D79-C8B11C66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62100"/>
            <a:ext cx="5638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Project objectives-bar">
            <a:extLst xmlns:a="http://schemas.openxmlformats.org/drawingml/2006/main">
              <a:ext uri="{FF2B5EF4-FFF2-40B4-BE49-F238E27FC236}">
                <a16:creationId xmlns:a16="http://schemas.microsoft.com/office/drawing/2014/main" id="{DFE0B2B4-9FA2-4D84-B6C8-DE4C59C2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621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892E3-9DA7-432F-9D29-5FB5792D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Project objectives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3ACC9-3F2F-4EFF-8B46-F1F1A4FE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5295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Provide source-grounded conversational answers for CHiPS e-Procurement workflows.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Support multilingual interactions with clear, context-aware responses.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Reduce answer drift by improving routing, retrieval, and deterministic responders.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CCFAA-8217-44B0-88ED-6B0C198F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Key features-bar">
            <a:extLst xmlns:a="http://schemas.openxmlformats.org/drawingml/2006/main">
              <a:ext uri="{FF2B5EF4-FFF2-40B4-BE49-F238E27FC236}">
                <a16:creationId xmlns:a16="http://schemas.microsoft.com/office/drawing/2014/main" id="{12D81EB5-BDC7-4240-A6E7-A56A0917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5C968-AE70-4C31-AAE2-D68F99D5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Key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A94AA-77C5-49DA-9BE9-1C8F4AA7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047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Multilingual chatbot widget, source-linked answers, quick prompt chips, PDF/source viewing, and voice support.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Coverage across tender methods, bid submission, evaluation, registration, EMD, auctions, and procurement rules.</a:t>
            </a:r>
          </a:p>
        </p:txBody>
      </p:sp>
      <p:sp>
        <p:nvSpPr>
          <p:cNvPr id="15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991E7719-09F6-4BE9-8259-C82A313E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87A6D-E963-4996-BE33-8EDB365F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CHiPS e-Procurement AI Chatbot | Monthly Progress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08BD6-ABE0-45C8-842A-55ECE00F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3484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E4356-9B2E-4352-A798-4989D206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MONTHLY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72A7E-916F-4710-8B82-C8DB366F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Methodology combined document processing, retrieval, and answer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F5CB8-76EB-4D9D-8A81-B50F2B2F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4710F-9F4C-44E7-AEAE-53FAA6B1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Document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69817-7173-4C60-8ECC-8F9F6362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7907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Preprocess PDFs, clean OCR, and prepare chunkable text from procurement manuals and rules.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29CE7-B712-4916-B818-E886FBFF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65139-26BB-45B4-AF02-4C2B6861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Knowledge indexing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A09C3-5AD2-4DC7-96D5-D5858696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289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Create embeddings, store searchable vectors, and attach metadata for better retrieval.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E69B8-8C04-4F07-9416-3FC7374F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9A332-D2F2-4FB9-A6E8-5322B810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81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Query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42A08-0F17-4B31-9609-01CC6E96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671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Classify actor, intent, and language before selecting response strategy.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5FA94-0750-4870-ACDB-41A36A9E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3E4FA-6F2B-4B7D-B917-EF702837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19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Grounded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A6884-F07C-46E1-BECE-2B82802B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053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Retrieve top evidence, rerank context, and generate or serve deterministic answers.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F3073-187A-43A7-BF03-B86434B8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BE953-189B-48F8-83F2-30974D36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57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Validation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CDF45-31B1-49AD-8231-670E1B67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4350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5556C"/>
                </a:solidFill>
              </a:defRPr>
            </a:pPr>
            <a:r>
              <a:rPr sz="1350">
                <a:solidFill>
                  <a:srgbClr val="45556C"/>
                </a:solidFill>
              </a:rPr>
              <a:t>Run regression tests, live API checks, and benchmark/UAT reviews to refine quality.</a:t>
            </a:r>
          </a:p>
        </p:txBody>
      </p:sp>
      <p:sp>
        <p:nvSpPr>
          <p:cNvPr id="18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A1A3BB18-6F3F-4DB7-B54F-4AFFC438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1BFCBB-E0C2-4D2E-BEF4-82791B21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CHiPS e-Procurement AI Chatbot | Monthly Progress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E57E9-BC97-46EE-BF89-34887371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397461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2A3E7-E786-45E6-A3C2-4E8BF5C8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MONTHLY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BBEC9-1221-432E-8134-57B93B7C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System architecture separates UI, API, retrieval, and model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457AD-CFFE-4C82-9465-B4317DFE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38CE9-C4B2-4243-86F2-FB3C32BE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Web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1AEF7-1E4D-4567-9644-25D82548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Portal page + chatbot widget</a:t>
            </a:r>
          </a:p>
          <a:p xmlns:a="http://schemas.openxmlformats.org/drawingml/2006/main">
            <a:pPr algn="ctr"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Quick prompts, source drawer, voice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57965-F34D-4E04-A9B3-A381526B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68575-5917-4D1A-BB21-2185A39E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526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Flask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FA052-F483-42E9-9ED7-380E9BBD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146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Streaming answers</a:t>
            </a:r>
          </a:p>
          <a:p xmlns:a="http://schemas.openxmlformats.org/drawingml/2006/main">
            <a:pPr algn="ctr"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Routing, diagnostics, language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A86BC-CEB3-4083-A076-BED2DAE8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2286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56B29-472F-4A02-813B-8BB9208E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526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Retrieval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B4B89-B762-4D47-98E3-A6DB33AF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1460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Qdrant vector store</a:t>
            </a:r>
          </a:p>
          <a:p xmlns:a="http://schemas.openxmlformats.org/drawingml/2006/main">
            <a:pPr algn="ctr"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Embedding + reranking context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9056E-81CA-4510-BBB7-8F7B5F2B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00250"/>
            <a:ext cx="21336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CE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ADB6C-FD04-47BB-B33E-20FBC1D9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526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LLM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509B8-AF2F-4470-88AA-F9CE018E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1460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Local Ollama-hosted models</a:t>
            </a:r>
          </a:p>
          <a:p xmlns:a="http://schemas.openxmlformats.org/drawingml/2006/main">
            <a:pPr algn="ctr">
              <a:defRPr sz="1275">
                <a:solidFill>
                  <a:srgbClr val="45556C"/>
                </a:solidFill>
              </a:defRPr>
            </a:pPr>
            <a:r>
              <a:rPr sz="1275">
                <a:solidFill>
                  <a:srgbClr val="45556C"/>
                </a:solidFill>
              </a:rPr>
              <a:t>Final answer generation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2B518-4F7E-4040-A86C-1A370174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057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Technology stack: Python 3.11, Flask, Node.js / Express, Qdrant, BGE-M3 embeddings, bge-reranker-v2-m3, local Ollama models, HTML/CSS/JavaScript, and browser-based speech support.</a:t>
            </a:r>
          </a:p>
        </p:txBody>
      </p:sp>
      <p:sp>
        <p:nvSpPr>
          <p:cNvPr id="16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978A85F6-D7C6-4D8B-BDA6-50794044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BB8773-7DA3-4C0C-B979-A7F1811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CHiPS e-Procurement AI Chatbot | Monthly Progress Presentation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DA2C24-1602-4147-B7EB-840462AD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61491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B7D5F9-1D89-46A6-87EE-73D9328A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MONTHLY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76C2A-9675-4E18-A2CC-F9104A0D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This month focused on UI polish, answer quality, and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3EC81-492C-47FC-8DE6-9FFDB347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352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Activities completed-bar">
            <a:extLst xmlns:a="http://schemas.openxmlformats.org/drawingml/2006/main">
              <a:ext uri="{FF2B5EF4-FFF2-40B4-BE49-F238E27FC236}">
                <a16:creationId xmlns:a16="http://schemas.microsoft.com/office/drawing/2014/main" id="{5D7FE56D-F66F-4A53-912B-E0A1E412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32D9D-E3F7-4D2D-AA10-A574169C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335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Activities completed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E5959-B7B2-4943-8786-EF571F71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3009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Prepared monthly and project reports.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Captured chatbot screenshots and demo assets.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Reorganized project documentation and support files.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1400E-EF36-4721-A0E1-3CBBCC9C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62100"/>
            <a:ext cx="3352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Technical work-bar">
            <a:extLst xmlns:a="http://schemas.openxmlformats.org/drawingml/2006/main">
              <a:ext uri="{FF2B5EF4-FFF2-40B4-BE49-F238E27FC236}">
                <a16:creationId xmlns:a16="http://schemas.microsoft.com/office/drawing/2014/main" id="{009CAE51-02B4-44D1-9304-8557D374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621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600C6-FDD8-4586-A590-0D6A1BEE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335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Technical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7EB42-5A78-4803-81DB-8C20CA4F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14550"/>
            <a:ext cx="3009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Added routing, context diagnostics, and language enforcement.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Improved voice latency with browser STT fallback.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Refined UI interactions and answer presentation 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6F0BA-F6AF-4AE6-B498-C2CF21DF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62100"/>
            <a:ext cx="33528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Quality work-bar">
            <a:extLst xmlns:a="http://schemas.openxmlformats.org/drawingml/2006/main">
              <a:ext uri="{FF2B5EF4-FFF2-40B4-BE49-F238E27FC236}">
                <a16:creationId xmlns:a16="http://schemas.microsoft.com/office/drawing/2014/main" id="{3CC5EF4B-669F-4D90-A382-3ADF7DEB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621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09AD8-F510-4DAA-A072-56D91C82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335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Quality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A82BE-DA7F-44B9-A99A-C96C1CF2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14550"/>
            <a:ext cx="3009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Ran exact-answer validation and UAT quality audit.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Added high-risk deterministic responders and regression cases.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Documented benchmark outcomes and remaining defects.</a:t>
            </a:r>
          </a:p>
        </p:txBody>
      </p:sp>
      <p:sp>
        <p:nvSpPr>
          <p:cNvPr id="15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3B852212-7882-476C-9E60-EE418D9B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4C5A8-1F5B-4D57-8F6B-F3A3BBD5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CHiPS e-Procurement AI Chatbot | Monthly Progress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E6D9C-4C1B-428F-8213-EE8B4035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0614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46592-7E06-41D6-8AF1-F56DA4E8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MONTHLY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8FE3D-E816-425A-BDBB-EE4AC6F0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Technical contributions improved correctness on sensitive procurement queries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E486A-C2FD-4D38-AC03-91ECA169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143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Backend / answer engine-bar">
            <a:extLst xmlns:a="http://schemas.openxmlformats.org/drawingml/2006/main">
              <a:ext uri="{FF2B5EF4-FFF2-40B4-BE49-F238E27FC236}">
                <a16:creationId xmlns:a16="http://schemas.microsoft.com/office/drawing/2014/main" id="{14D16DDA-D5E6-4425-97D3-5CF3571C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BAD4B-1947-4FBA-94E9-38C3E5D6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Backend / answer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FAFEC-E8DE-4640-BCAD-298407A2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800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Introduced direct anti-splitting guidance for purchase-splitting questions.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Added explicit intent for vendor registration approval time.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Added deterministic responses for DSC, eligibility, bid opening, and evaluation-report cases.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37431-C66A-4263-AC2F-5894E55F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5143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Validation / UX-bar">
            <a:extLst xmlns:a="http://schemas.openxmlformats.org/drawingml/2006/main">
              <a:ext uri="{FF2B5EF4-FFF2-40B4-BE49-F238E27FC236}">
                <a16:creationId xmlns:a16="http://schemas.microsoft.com/office/drawing/2014/main" id="{8741F61D-7D4A-4905-B392-7C09CF7A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6D091-67A0-461C-AB49-74FC5ECB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4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Validation / 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CECFD-CE78-47BA-9157-ADFA4C84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28850"/>
            <a:ext cx="4800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Extended regression coverage for routing and procurement workflows.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Added exact-question answering metric to the benchmark runner.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Improved UI support for Auto-Voice and browser-friendly interaction.</a:t>
            </a:r>
          </a:p>
        </p:txBody>
      </p:sp>
      <p:sp>
        <p:nvSpPr>
          <p:cNvPr id="11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58334F82-C3EC-45B5-8B73-02D5DDB9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088F9-A293-4B8D-A4F1-F45FE82E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CHiPS e-Procurement AI Chatbot | Monthly Progress 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82722-2122-479D-B3DD-97E20377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09454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82B61-FA5C-413E-910B-AAF6B3DA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MONTHLY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8745B-CCCC-44D5-B734-1C228B46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AI and data-science components power multilingual retrieval and grounded generation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838200" y="1924050"/>
          <a:ext xmlns:a="http://schemas.openxmlformats.org/drawingml/2006/main" cx="428625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26364302654c5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6CE79-7AFA-419A-AD78-AE99EE5F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571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Tools and technologies used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BGE-M3 for multilingual embeddings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bge-reranker-v2-m3 for reranking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Qdrant as vector database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Local LLMs through Ollama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Flask and Node.js for application delivery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Automated benchmark and regression scripts for evaluation</a:t>
            </a:r>
          </a:p>
        </p:txBody>
      </p:sp>
      <p:sp>
        <p:nvSpPr>
          <p:cNvPr id="5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F9E3DF25-4F78-4877-82AA-6B1231D1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89EFD-F97C-4046-839D-71B60111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CHiPS e-Procurement AI Chatbot | Monthly Progress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D27A5-639C-4C3B-A921-F401355C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780509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A1258D-B02E-4EAB-BA49-437DA2CF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MONTHLY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C8F90-7DAA-4884-AAA0-772D4951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Progress is visible in targeted validation even as broad benchmark gaps remain</a:t>
            </a:r>
          </a:p>
        </p:txBody>
      </p:sp>
      <p:sp>
        <p:nvSpPr>
          <p:cNvPr id="3" name="Regression tests passed">
            <a:extLst xmlns:a="http://schemas.openxmlformats.org/drawingml/2006/main">
              <a:ext uri="{FF2B5EF4-FFF2-40B4-BE49-F238E27FC236}">
                <a16:creationId xmlns:a16="http://schemas.microsoft.com/office/drawing/2014/main" id="{AD638B3C-B656-4367-BF08-DBC2139A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D0CAE-B535-4C1C-AA03-4B075A79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B67B1-BBB5-4093-9FDB-A887028F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4158"/>
                </a:solidFill>
              </a:defRPr>
            </a:pPr>
            <a:r>
              <a:rPr sz="1350" b="1">
                <a:solidFill>
                  <a:srgbClr val="314158"/>
                </a:solidFill>
              </a:rPr>
              <a:t>Regression tests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3FA17-90CA-475E-8FAE-9412A03B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48E"/>
                </a:solidFill>
              </a:defRPr>
            </a:pPr>
            <a:r>
              <a:rPr sz="1050">
                <a:solidFill>
                  <a:srgbClr val="62748E"/>
                </a:solidFill>
              </a:rPr>
              <a:t>Fine-intent, actor boundary, workflow checks</a:t>
            </a:r>
          </a:p>
        </p:txBody>
      </p:sp>
      <p:sp>
        <p:nvSpPr>
          <p:cNvPr id="7" name="Focused live checks passed">
            <a:extLst xmlns:a="http://schemas.openxmlformats.org/drawingml/2006/main">
              <a:ext uri="{FF2B5EF4-FFF2-40B4-BE49-F238E27FC236}">
                <a16:creationId xmlns:a16="http://schemas.microsoft.com/office/drawing/2014/main" id="{A1DBAF1F-0E33-4148-8222-B57A3182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9B4D2-0CAD-4916-82F8-CAB9BC9E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12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77C1D-02BD-4BDD-A336-C7BA51C6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4158"/>
                </a:solidFill>
              </a:defRPr>
            </a:pPr>
            <a:r>
              <a:rPr sz="1350" b="1">
                <a:solidFill>
                  <a:srgbClr val="314158"/>
                </a:solidFill>
              </a:rPr>
              <a:t>Focused live checks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8C305-1DBC-4B31-8755-CCE1E3BD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48E"/>
                </a:solidFill>
              </a:defRPr>
            </a:pPr>
            <a:r>
              <a:rPr sz="1050">
                <a:solidFill>
                  <a:srgbClr val="62748E"/>
                </a:solidFill>
              </a:rPr>
              <a:t>Mean latency 1.51 seconds</a:t>
            </a:r>
          </a:p>
        </p:txBody>
      </p:sp>
      <p:sp>
        <p:nvSpPr>
          <p:cNvPr id="11" name="UAT remediation tests passed">
            <a:extLst xmlns:a="http://schemas.openxmlformats.org/drawingml/2006/main">
              <a:ext uri="{FF2B5EF4-FFF2-40B4-BE49-F238E27FC236}">
                <a16:creationId xmlns:a16="http://schemas.microsoft.com/office/drawing/2014/main" id="{7C4DCAEE-659C-479E-8C79-3FE75171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DB66D-C262-4DE8-9A88-C6D8AC1C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C5729-1D7C-4406-B035-338A9118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4158"/>
                </a:solidFill>
              </a:defRPr>
            </a:pPr>
            <a:r>
              <a:rPr sz="1350" b="1">
                <a:solidFill>
                  <a:srgbClr val="314158"/>
                </a:solidFill>
              </a:rPr>
              <a:t>UAT remediation tests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325BE-7804-43B4-B789-F07A2F6A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48E"/>
                </a:solidFill>
              </a:defRPr>
            </a:pPr>
            <a:r>
              <a:rPr sz="1050">
                <a:solidFill>
                  <a:srgbClr val="62748E"/>
                </a:solidFill>
              </a:rPr>
              <a:t>High-risk cases validated</a:t>
            </a:r>
          </a:p>
        </p:txBody>
      </p:sp>
      <p:sp>
        <p:nvSpPr>
          <p:cNvPr id="15" name="Production benchmark queries">
            <a:extLst xmlns:a="http://schemas.openxmlformats.org/drawingml/2006/main">
              <a:ext uri="{FF2B5EF4-FFF2-40B4-BE49-F238E27FC236}">
                <a16:creationId xmlns:a16="http://schemas.microsoft.com/office/drawing/2014/main" id="{8DB4917C-4180-4B48-807F-A9DB80F9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1925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954D5-582D-444D-88C6-1163A738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120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31B09-AB11-411D-B952-970479E1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4158"/>
                </a:solidFill>
              </a:defRPr>
            </a:pPr>
            <a:r>
              <a:rPr sz="1350" b="1">
                <a:solidFill>
                  <a:srgbClr val="314158"/>
                </a:solidFill>
              </a:rPr>
              <a:t>Production benchmark queries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DD4AA-2BBD-441F-BBAF-D718A9F8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90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48E"/>
                </a:solidFill>
              </a:defRPr>
            </a:pPr>
            <a:r>
              <a:rPr sz="1050">
                <a:solidFill>
                  <a:srgbClr val="62748E"/>
                </a:solidFill>
              </a:rPr>
              <a:t>Used for gap discovery</a:t>
            </a:r>
          </a:p>
        </p:txBody>
      </p:sp>
      <p:sp>
        <p:nvSpPr>
          <p:cNvPr id="19" name="milestone-note">
            <a:extLst xmlns:a="http://schemas.openxmlformats.org/drawingml/2006/main">
              <a:ext uri="{FF2B5EF4-FFF2-40B4-BE49-F238E27FC236}">
                <a16:creationId xmlns:a16="http://schemas.microsoft.com/office/drawing/2014/main" id="{DD627B64-1C13-4DFF-AD95-2E1C2598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382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394D2-2B51-4CDC-9919-B0571AC9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990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Progress against planned milestones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314158"/>
                </a:solidFill>
              </a:defRPr>
            </a:pPr>
            <a:r>
              <a:rPr sz="1575">
                <a:solidFill>
                  <a:srgbClr val="314158"/>
                </a:solidFill>
              </a:rPr>
              <a:t>The planned milestone for this month was to move from broad prototype behavior toward more reliable, demo-ready procurement assistance. That milestone was partially achieved: focused validation improved significantly, but the full 120-query benchmark still shows major gaps in fallback reduction, actor classification, and procedural completeness.</a:t>
            </a:r>
          </a:p>
        </p:txBody>
      </p:sp>
      <p:sp>
        <p:nvSpPr>
          <p:cNvPr id="21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A8D25885-F557-4A8D-8E37-41344099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54B8D8-FE55-4E2C-B782-A9C554B2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CHiPS e-Procurement AI Chatbot | Monthly Progress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01239-BF1A-437B-8930-1137351D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379027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8E65E-F3B3-4187-82EC-CA7608E8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MONTHLY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6EE8A-EF1D-44D8-8082-1FFE0AA6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Demonstration: the chatbot now presents a cleaner and more usable interface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6a2d9b7d74573"/>
          <a:srcRect xmlns:a="http://schemas.openxmlformats.org/drawingml/2006/main" l="0" t="2941" r="0" b="29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676400"/>
            <a:ext cx="485775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fa3dc20374375"/>
          <a:srcRect xmlns:a="http://schemas.openxmlformats.org/drawingml/2006/main" l="0" t="2941" r="0" b="29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1676400"/>
            <a:ext cx="485775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B17AD-4CF5-4C66-9457-65FFF44C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Widget view: quick prompts, Auto-Voice, and multilingual entry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EA292-9A50-4345-AD45-6B2AB9C2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578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Answer view: concise response + source visibility</a:t>
            </a:r>
          </a:p>
        </p:txBody>
      </p:sp>
      <p:sp>
        <p:nvSpPr>
          <p:cNvPr id="7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74ABE010-EE6F-4FC0-81A9-F36AF9C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5FC61-DE74-478A-AA1D-6283D9DD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CHiPS e-Procurement AI Chatbot | Monthly Progress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4EE4B-7476-47B1-9B10-CF5C2660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7734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9B28B-47D3-486C-A56F-9BF28E8F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MONTHLY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1AB10-D2BA-47BB-AA1D-D1262634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The main challenges are accuracy gaps at scale and environment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3F43B-3A8D-4759-B9FE-4660D9AB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143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Challenges encountered-bar">
            <a:extLst xmlns:a="http://schemas.openxmlformats.org/drawingml/2006/main">
              <a:ext uri="{FF2B5EF4-FFF2-40B4-BE49-F238E27FC236}">
                <a16:creationId xmlns:a16="http://schemas.microsoft.com/office/drawing/2014/main" id="{4D5F9D1E-D3DB-47BF-B1B9-6B78E4AE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F5AC1-224D-4483-A999-878E82A7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Challenges encountered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3BA47-9B5D-46D4-9F2F-887FF50B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800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Broad benchmark still shows low pass rate and high fallback behavior.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Actor and fine-intent errors affect retrieval and answer quality.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Some UI/browser validation is blocked by local environment issues.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CA617-CB60-45E1-AA20-58F05504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5143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Implications-bar">
            <a:extLst xmlns:a="http://schemas.openxmlformats.org/drawingml/2006/main">
              <a:ext uri="{FF2B5EF4-FFF2-40B4-BE49-F238E27FC236}">
                <a16:creationId xmlns:a16="http://schemas.microsoft.com/office/drawing/2014/main" id="{28BAA3CF-B37F-4EC2-8696-4669DD8E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3855B-E0CC-49C7-BAEC-4BBE306D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4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Implications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45F0A-E26D-4CD4-86EB-9AAEC30C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28850"/>
            <a:ext cx="4800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Need tighter evidence contracts for sensitive procurement answers.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Need stronger semantic UAT acceptance criteria, not only routing checks.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Need continued live verification before wider deployment.</a:t>
            </a:r>
          </a:p>
        </p:txBody>
      </p:sp>
      <p:sp>
        <p:nvSpPr>
          <p:cNvPr id="11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4A719396-7840-4C78-BE14-6432CDA7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942F2-E69D-4020-A98B-3D4FB693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CHiPS e-Procurement AI Chatbot | Monthly Progress 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9D937-3738-4168-B5FF-9C7E6373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828188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38235-A4C7-44AC-BE1A-9C6354D4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MONTHLY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3A278-10FF-499A-AC1F-54B137E2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Next month’s plan focuses on targeted quality improvement and review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7978C-41D3-4BF4-8F2E-615D39ED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143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Work plan for next month-bar">
            <a:extLst xmlns:a="http://schemas.openxmlformats.org/drawingml/2006/main">
              <a:ext uri="{FF2B5EF4-FFF2-40B4-BE49-F238E27FC236}">
                <a16:creationId xmlns:a16="http://schemas.microsoft.com/office/drawing/2014/main" id="{4AB7499B-1DAF-40AC-9D1C-C19B01F1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38552-4326-448E-A1E4-98DDE83B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Work plan for next month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02506-D4FD-4E83-A160-4C7A7E73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4800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Reduce fallback-heavy cases and improve procedural completeness.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Re-run multilingual UAT with stricter semantic assertions.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Continue UI verification and live demo readiness improvements.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6D1D0-235D-4B32-B2F1-3553200F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5143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Support required-bar">
            <a:extLst xmlns:a="http://schemas.openxmlformats.org/drawingml/2006/main">
              <a:ext uri="{FF2B5EF4-FFF2-40B4-BE49-F238E27FC236}">
                <a16:creationId xmlns:a16="http://schemas.microsoft.com/office/drawing/2014/main" id="{D2ABE677-F9ED-459D-8F9C-B4EA10B2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781A6-BF63-48B2-B13F-C3CA4456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4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Support 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E1841-0D08-4D8B-AE73-2AB6112A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28850"/>
            <a:ext cx="48006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Feedback from IIIT-NR on evaluation focus and expected output quality.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Department-side confirmation of priority use cases for the next validation cycle.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• Access/support for broader demo testing and deployment-readiness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B6AFC-E836-426F-A228-9E5B91D7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Central takeaway: the chatbot is now more structured, more grounded, and more demo-ready, but it still needs another cycle of focused quality work before it can be treated as broadly reliable.</a:t>
            </a:r>
          </a:p>
        </p:txBody>
      </p:sp>
      <p:sp>
        <p:nvSpPr>
          <p:cNvPr id="12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BC74903F-152C-4DE2-A43F-0B23184E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B4041-7EFE-4F63-84D3-1DF6AB37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CHiPS e-Procurement AI Chatbot | Monthly Progress Presentation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D5A8D-4704-4820-B08F-D2389557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07286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2026-07-24T11:29:24.3180000Z</dcterms:created>
  <dcterms:modified xsi:type="dcterms:W3CDTF">2026-07-24T11:29:24.3180000Z</dcterms:modified>
</coreProperties>
</file>